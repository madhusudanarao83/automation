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668" r:id="rId2"/>
    <p:sldId id="785" r:id="rId3"/>
    <p:sldId id="770" r:id="rId4"/>
    <p:sldId id="1100" r:id="rId5"/>
    <p:sldId id="773" r:id="rId6"/>
    <p:sldId id="772" r:id="rId7"/>
    <p:sldId id="776" r:id="rId8"/>
    <p:sldId id="1096" r:id="rId9"/>
    <p:sldId id="1098" r:id="rId10"/>
    <p:sldId id="790" r:id="rId11"/>
    <p:sldId id="1097" r:id="rId12"/>
    <p:sldId id="787" r:id="rId13"/>
    <p:sldId id="1099" r:id="rId14"/>
    <p:sldId id="1102" r:id="rId15"/>
    <p:sldId id="1103" r:id="rId16"/>
    <p:sldId id="1104" r:id="rId17"/>
    <p:sldId id="1105" r:id="rId18"/>
    <p:sldId id="1106" r:id="rId19"/>
    <p:sldId id="1107" r:id="rId20"/>
    <p:sldId id="782" r:id="rId21"/>
    <p:sldId id="786" r:id="rId22"/>
    <p:sldId id="1101" r:id="rId23"/>
    <p:sldId id="7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 Allu" userId="601367b6-4d4c-4b4b-b3df-ecd854485f88" providerId="ADAL" clId="{89DEDC7D-432B-4D6D-977F-BA730D84D4DE}"/>
    <pc:docChg chg="modSld">
      <pc:chgData name="Madhu Allu" userId="601367b6-4d4c-4b4b-b3df-ecd854485f88" providerId="ADAL" clId="{89DEDC7D-432B-4D6D-977F-BA730D84D4DE}" dt="2025-10-17T10:35:03.606" v="2" actId="114"/>
      <pc:docMkLst>
        <pc:docMk/>
      </pc:docMkLst>
      <pc:sldChg chg="modSp mod">
        <pc:chgData name="Madhu Allu" userId="601367b6-4d4c-4b4b-b3df-ecd854485f88" providerId="ADAL" clId="{89DEDC7D-432B-4D6D-977F-BA730D84D4DE}" dt="2025-10-17T10:35:03.606" v="2" actId="114"/>
        <pc:sldMkLst>
          <pc:docMk/>
          <pc:sldMk cId="1628146062" sldId="668"/>
        </pc:sldMkLst>
        <pc:spChg chg="mod">
          <ac:chgData name="Madhu Allu" userId="601367b6-4d4c-4b4b-b3df-ecd854485f88" providerId="ADAL" clId="{89DEDC7D-432B-4D6D-977F-BA730D84D4DE}" dt="2025-10-17T10:35:03.606" v="2" actId="114"/>
          <ac:spMkLst>
            <pc:docMk/>
            <pc:sldMk cId="1628146062" sldId="668"/>
            <ac:spMk id="2" creationId="{00000000-0000-0000-0000-000000000000}"/>
          </ac:spMkLst>
        </pc:spChg>
      </pc:sldChg>
    </pc:docChg>
  </pc:docChgLst>
  <pc:docChgLst>
    <pc:chgData name="Madhu Allu" userId="601367b6-4d4c-4b4b-b3df-ecd854485f88" providerId="ADAL" clId="{ECA8E910-EA1D-4997-BD3B-EDE6ADDA70E7}"/>
    <pc:docChg chg="undo custSel addSld delSld modSld sldOrd">
      <pc:chgData name="Madhu Allu" userId="601367b6-4d4c-4b4b-b3df-ecd854485f88" providerId="ADAL" clId="{ECA8E910-EA1D-4997-BD3B-EDE6ADDA70E7}" dt="2025-04-02T13:44:54.387" v="3591" actId="6549"/>
      <pc:docMkLst>
        <pc:docMk/>
      </pc:docMkLst>
      <pc:sldChg chg="modSp mod">
        <pc:chgData name="Madhu Allu" userId="601367b6-4d4c-4b4b-b3df-ecd854485f88" providerId="ADAL" clId="{ECA8E910-EA1D-4997-BD3B-EDE6ADDA70E7}" dt="2025-04-02T12:52:33.781" v="3283" actId="6549"/>
        <pc:sldMkLst>
          <pc:docMk/>
          <pc:sldMk cId="1628146062" sldId="668"/>
        </pc:sldMkLst>
      </pc:sldChg>
      <pc:sldChg chg="ord">
        <pc:chgData name="Madhu Allu" userId="601367b6-4d4c-4b4b-b3df-ecd854485f88" providerId="ADAL" clId="{ECA8E910-EA1D-4997-BD3B-EDE6ADDA70E7}" dt="2025-04-02T10:36:27.164" v="443"/>
        <pc:sldMkLst>
          <pc:docMk/>
          <pc:sldMk cId="4004423765" sldId="782"/>
        </pc:sldMkLst>
      </pc:sldChg>
      <pc:sldChg chg="modSp mod">
        <pc:chgData name="Madhu Allu" userId="601367b6-4d4c-4b4b-b3df-ecd854485f88" providerId="ADAL" clId="{ECA8E910-EA1D-4997-BD3B-EDE6ADDA70E7}" dt="2025-04-02T12:55:58.484" v="3293" actId="20577"/>
        <pc:sldMkLst>
          <pc:docMk/>
          <pc:sldMk cId="517520076" sldId="1102"/>
        </pc:sldMkLst>
      </pc:sldChg>
      <pc:sldChg chg="addSp modSp add mod ord">
        <pc:chgData name="Madhu Allu" userId="601367b6-4d4c-4b4b-b3df-ecd854485f88" providerId="ADAL" clId="{ECA8E910-EA1D-4997-BD3B-EDE6ADDA70E7}" dt="2025-04-02T12:24:31.703" v="3241" actId="20577"/>
        <pc:sldMkLst>
          <pc:docMk/>
          <pc:sldMk cId="969982557" sldId="1103"/>
        </pc:sldMkLst>
      </pc:sldChg>
      <pc:sldChg chg="modSp add mod">
        <pc:chgData name="Madhu Allu" userId="601367b6-4d4c-4b4b-b3df-ecd854485f88" providerId="ADAL" clId="{ECA8E910-EA1D-4997-BD3B-EDE6ADDA70E7}" dt="2025-04-02T11:45:53.793" v="2435" actId="6549"/>
        <pc:sldMkLst>
          <pc:docMk/>
          <pc:sldMk cId="4008493681" sldId="1104"/>
        </pc:sldMkLst>
      </pc:sldChg>
      <pc:sldChg chg="add del">
        <pc:chgData name="Madhu Allu" userId="601367b6-4d4c-4b4b-b3df-ecd854485f88" providerId="ADAL" clId="{ECA8E910-EA1D-4997-BD3B-EDE6ADDA70E7}" dt="2025-04-02T10:31:20.094" v="396"/>
        <pc:sldMkLst>
          <pc:docMk/>
          <pc:sldMk cId="506536648" sldId="1105"/>
        </pc:sldMkLst>
      </pc:sldChg>
      <pc:sldChg chg="modSp add mod ord">
        <pc:chgData name="Madhu Allu" userId="601367b6-4d4c-4b4b-b3df-ecd854485f88" providerId="ADAL" clId="{ECA8E910-EA1D-4997-BD3B-EDE6ADDA70E7}" dt="2025-04-02T12:59:42.197" v="3332" actId="6549"/>
        <pc:sldMkLst>
          <pc:docMk/>
          <pc:sldMk cId="1849344930" sldId="1105"/>
        </pc:sldMkLst>
      </pc:sldChg>
      <pc:sldChg chg="modSp add mod">
        <pc:chgData name="Madhu Allu" userId="601367b6-4d4c-4b4b-b3df-ecd854485f88" providerId="ADAL" clId="{ECA8E910-EA1D-4997-BD3B-EDE6ADDA70E7}" dt="2025-04-02T13:42:44.775" v="3444" actId="20577"/>
        <pc:sldMkLst>
          <pc:docMk/>
          <pc:sldMk cId="1176660897" sldId="1106"/>
        </pc:sldMkLst>
      </pc:sldChg>
      <pc:sldChg chg="addSp delSp modSp add mod ord">
        <pc:chgData name="Madhu Allu" userId="601367b6-4d4c-4b4b-b3df-ecd854485f88" providerId="ADAL" clId="{ECA8E910-EA1D-4997-BD3B-EDE6ADDA70E7}" dt="2025-04-02T13:44:54.387" v="3591" actId="6549"/>
        <pc:sldMkLst>
          <pc:docMk/>
          <pc:sldMk cId="1977404419" sldId="11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8A677-27EB-44CE-99AC-139DEBF4A9D7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E8B5E-AD19-4AF3-83F4-7D229FEC2C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55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BD2C90-BBA0-46EC-8B01-B5FB30F66FD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Folienbildplatzhalter 2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izenplatzhalt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96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D170C-2348-4034-8399-BAFCB0076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B51E6-1ACA-441B-8BB6-B8E29B901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BB9AD-9DA1-46CA-BFFF-6FDD09B1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F7709-EF45-4181-8160-4CE19926489A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2CBB-F64E-43B0-BD9F-874660D4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C7126-A8D5-43AE-9D91-FB4AC523B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4E3A-E55F-4162-8535-686156E837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985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0F01-1733-4DAB-BB9C-EA236CF6D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0DE5C-5B1D-47D8-83E9-E049554DD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2ED7A-92FE-42C6-BFA0-6EBD4572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F7709-EF45-4181-8160-4CE19926489A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77EF6-373C-4A1C-BD5E-3DEB2E84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A6CE1-AAA1-442B-A6FC-8CB3FAAB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4E3A-E55F-4162-8535-686156E837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909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3CCF-3014-45FB-AD18-58524B864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CBD23-CEC4-4545-88F1-D6AB6E68D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3208D-76D7-4E7A-9061-CDB8D7221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F7709-EF45-4181-8160-4CE19926489A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698E6-A846-4D3C-9AF2-2DE0E71AE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FD348-A54F-4DB7-A986-37685E2B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4E3A-E55F-4162-8535-686156E837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18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20A73-58FF-4A80-9CD1-281A15DC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930B5-F7D3-49C4-9B16-983184595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1BD00-6581-4717-8143-B501D083A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020EB-883C-42E2-8FAF-E56E3CDC9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F7709-EF45-4181-8160-4CE19926489A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B4690-30AE-458B-B879-3695828D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95AD3-D970-4404-8F31-925E397F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4E3A-E55F-4162-8535-686156E837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286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5EFE-FD38-459C-AADA-5407BD17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7A4A4-BEB5-4A4D-845D-277AB4950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D474D-2953-4302-89DB-926CE7EAD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CE61CB-5CB9-4995-AB8A-08F124BD8C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739622-FDB2-4645-92D7-5EABC6CD2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96271C-E37B-43AC-95CB-255FB067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F7709-EF45-4181-8160-4CE19926489A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D963BD-9A1B-4BBE-8785-E6AD9323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720DD-9781-469C-BC85-6DEEB10DC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4E3A-E55F-4162-8535-686156E837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95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22F1-648B-4949-8D65-14B8DA75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94CC5-E085-4126-8911-D686F54CD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F7709-EF45-4181-8160-4CE19926489A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D77D2-C3AE-4501-A5B6-725C4D0C8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09FA5-72DE-4B35-ADEE-BE249A42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4E3A-E55F-4162-8535-686156E837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32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9178D0-EA30-4B29-968C-DE74E158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F7709-EF45-4181-8160-4CE19926489A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873AB1-F6C2-4F01-8321-9A311A9B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0C07C-D0E5-446F-BC67-165EA0F8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4E3A-E55F-4162-8535-686156E837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880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036B-FE83-462C-8EF6-DF7485402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9930D-A838-423A-9273-69B0D5180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7916C-D8BB-4B4F-950F-C38C79D23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81DAF-F5B8-490E-95A8-FC1748E77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F7709-EF45-4181-8160-4CE19926489A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5D427-41A8-45B5-81C5-E62F27247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29A61-CD06-4959-88BF-24CEFCB68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4E3A-E55F-4162-8535-686156E837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52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97EC-8BCD-40AB-ADBF-D0C0B4C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480DD-EB7A-43B4-8BCA-35ADC67FD1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F1A2B-A4F9-4F1E-B1C8-1D6415EE3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4BE26-57C8-4FF3-ABCF-EB4B8FBE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F7709-EF45-4181-8160-4CE19926489A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C05E2-CB32-4039-86C3-EDD9290F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2B941-987B-45C6-BE83-C74CC4EA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4E3A-E55F-4162-8535-686156E837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84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68DF-2561-40FB-9E9E-26217222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E479ED-4796-47F8-BDAC-734E14E93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E4F2A-EE94-4AE6-96C2-B3B9FA6E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F7709-EF45-4181-8160-4CE19926489A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F41EF-FB16-496D-934A-ABB934BF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C2E1A-E2F6-4F75-934B-290B3EB1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4E3A-E55F-4162-8535-686156E837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30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C5AD4D-5738-485F-B848-F1928F1EF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2828B-BD69-4CAD-895D-A35603587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07FFD-B4AC-48B9-94B8-3C39D13E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F7709-EF45-4181-8160-4CE19926489A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DAF91-227D-4DC2-9F2F-812931452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2075C-536F-4ACC-BCB0-8570471D6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4E3A-E55F-4162-8535-686156E837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767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(col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949" y="1138299"/>
            <a:ext cx="10799866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981949" y="181938"/>
            <a:ext cx="10799866" cy="86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55184A8-56A5-4CA1-A433-4668174A99B9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/// CDEM Global Call /// May 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\\nas-mainz\Projekte_vertraulich\Bayer\17-0612_Fischer_CI-Redesign\vom Kunden\Bayer_Cross_2017_on-Screen_RGB_170630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96044" y="617155"/>
            <a:ext cx="399825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28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949" y="1138299"/>
            <a:ext cx="10799188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D230B77-FE2C-4EEF-9478-BB01ABC5E92C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/// CDEM Global Call /// May 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 (left)"/>
          <p:cNvSpPr>
            <a:spLocks noGrp="1"/>
          </p:cNvSpPr>
          <p:nvPr>
            <p:ph type="body" sz="quarter" idx="14"/>
          </p:nvPr>
        </p:nvSpPr>
        <p:spPr bwMode="gray">
          <a:xfrm>
            <a:off x="980410" y="1732750"/>
            <a:ext cx="5220680" cy="4752001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 (right)"/>
          <p:cNvSpPr>
            <a:spLocks noGrp="1"/>
          </p:cNvSpPr>
          <p:nvPr>
            <p:ph type="body" sz="quarter" idx="15"/>
          </p:nvPr>
        </p:nvSpPr>
        <p:spPr bwMode="gray">
          <a:xfrm>
            <a:off x="6560457" y="1732750"/>
            <a:ext cx="5220680" cy="4752001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2" descr="\\nas-mainz\Projekte_vertraulich\Bayer\17-0612_Fischer_CI-Redesign\vom Kunden\Bayer_Cross_2017_on-Screen_RGB_170630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96044" y="617155"/>
            <a:ext cx="399825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74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458" y="1732422"/>
            <a:ext cx="3621023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5C64799-E3F9-48E1-8B7D-24BBE79CD621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June 2018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653" y="2424948"/>
            <a:ext cx="3620828" cy="1440000"/>
          </a:xfrm>
        </p:spPr>
        <p:txBody>
          <a:bodyPr anchor="t"/>
          <a:lstStyle>
            <a:lvl1pPr>
              <a:defRPr sz="32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862" y="4041068"/>
            <a:ext cx="480895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582" y="4262151"/>
            <a:ext cx="291589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4"/>
          </p:nvPr>
        </p:nvSpPr>
        <p:spPr bwMode="gray">
          <a:xfrm>
            <a:off x="4078373" y="0"/>
            <a:ext cx="8116009" cy="6858000"/>
          </a:xfrm>
          <a:custGeom>
            <a:avLst/>
            <a:gdLst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6858000 h 6858000"/>
              <a:gd name="connsiteX4" fmla="*/ 8112572 w 8112573"/>
              <a:gd name="connsiteY4" fmla="*/ 5739354 h 6858000"/>
              <a:gd name="connsiteX5" fmla="*/ 3275459 w 8112573"/>
              <a:gd name="connsiteY5" fmla="*/ 6858000 h 6858000"/>
              <a:gd name="connsiteX6" fmla="*/ 0 w 8112573"/>
              <a:gd name="connsiteY6" fmla="*/ 685800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5739354 h 6858000"/>
              <a:gd name="connsiteX4" fmla="*/ 3275459 w 8112573"/>
              <a:gd name="connsiteY4" fmla="*/ 6858000 h 6858000"/>
              <a:gd name="connsiteX5" fmla="*/ 0 w 8112573"/>
              <a:gd name="connsiteY5" fmla="*/ 6858000 h 6858000"/>
              <a:gd name="connsiteX6" fmla="*/ 1341581 w 8112573"/>
              <a:gd name="connsiteY6" fmla="*/ 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2 w 8112573"/>
              <a:gd name="connsiteY2" fmla="*/ 5739354 h 6858000"/>
              <a:gd name="connsiteX3" fmla="*/ 3275459 w 8112573"/>
              <a:gd name="connsiteY3" fmla="*/ 6858000 h 6858000"/>
              <a:gd name="connsiteX4" fmla="*/ 0 w 8112573"/>
              <a:gd name="connsiteY4" fmla="*/ 6858000 h 6858000"/>
              <a:gd name="connsiteX5" fmla="*/ 1341581 w 8112573"/>
              <a:gd name="connsiteY5" fmla="*/ 0 h 6858000"/>
              <a:gd name="connsiteX0" fmla="*/ 1341581 w 8114953"/>
              <a:gd name="connsiteY0" fmla="*/ 0 h 6858000"/>
              <a:gd name="connsiteX1" fmla="*/ 8112573 w 8114953"/>
              <a:gd name="connsiteY1" fmla="*/ 0 h 6858000"/>
              <a:gd name="connsiteX2" fmla="*/ 8114953 w 8114953"/>
              <a:gd name="connsiteY2" fmla="*/ 6003673 h 6858000"/>
              <a:gd name="connsiteX3" fmla="*/ 3275459 w 8114953"/>
              <a:gd name="connsiteY3" fmla="*/ 6858000 h 6858000"/>
              <a:gd name="connsiteX4" fmla="*/ 0 w 8114953"/>
              <a:gd name="connsiteY4" fmla="*/ 6858000 h 6858000"/>
              <a:gd name="connsiteX5" fmla="*/ 1341581 w 8114953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14953" h="6858000">
                <a:moveTo>
                  <a:pt x="1341581" y="0"/>
                </a:moveTo>
                <a:lnTo>
                  <a:pt x="8112573" y="0"/>
                </a:lnTo>
                <a:cubicBezTo>
                  <a:pt x="8112573" y="1913118"/>
                  <a:pt x="8114953" y="4090555"/>
                  <a:pt x="8114953" y="6003673"/>
                </a:cubicBezTo>
                <a:lnTo>
                  <a:pt x="3275459" y="6858000"/>
                </a:ln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16" name="Picture 2" descr="\\nas-mainz\Projekte_vertraulich\Bayer\17-0612_Fischer_CI-Redesign\vom Kunden\Bayer_Cross_2017_REV-White_on-Screen_RGB_170630.wmf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701767" y="704850"/>
            <a:ext cx="720094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35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A6171-1F41-4750-8A09-38C00E787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D1BE6-73F6-401C-8EAB-A4EAD6752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B51C6-A2F0-4B75-8CCF-23EF6FAD5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F7709-EF45-4181-8160-4CE19926489A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DDF24-8A6C-478A-82C2-73957D588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CDB6F-1A29-4A77-A690-3FD1A840E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E4E3A-E55F-4162-8535-686156E8378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-242339457,&quot;Placement&quot;:&quot;Footer&quot;,&quot;Top&quot;:503.1945,&quot;Left&quot;:812.5106,&quot;SlideWidth&quot;:960,&quot;SlideHeight&quot;:540}">
            <a:extLst>
              <a:ext uri="{FF2B5EF4-FFF2-40B4-BE49-F238E27FC236}">
                <a16:creationId xmlns:a16="http://schemas.microsoft.com/office/drawing/2014/main" id="{D4C3E04A-010A-4395-9280-F14A4A951B5A}"/>
              </a:ext>
            </a:extLst>
          </p:cNvPr>
          <p:cNvSpPr txBox="1"/>
          <p:nvPr userDrawn="1"/>
        </p:nvSpPr>
        <p:spPr>
          <a:xfrm>
            <a:off x="10318885" y="6390570"/>
            <a:ext cx="1873115" cy="4674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GB" sz="2200">
                <a:solidFill>
                  <a:srgbClr val="FF8939"/>
                </a:solidFill>
                <a:latin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58487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Parallelogramm 32"/>
          <p:cNvSpPr/>
          <p:nvPr/>
        </p:nvSpPr>
        <p:spPr bwMode="gray">
          <a:xfrm>
            <a:off x="4087025" y="-724"/>
            <a:ext cx="4032000" cy="6858724"/>
          </a:xfrm>
          <a:prstGeom prst="parallelogram">
            <a:avLst>
              <a:gd name="adj" fmla="val 32935"/>
            </a:avLst>
          </a:prstGeom>
          <a:blipFill>
            <a:blip r:embed="rId3"/>
            <a:srcRect/>
            <a:stretch>
              <a:fillRect l="-6703" r="-670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arallelogramm 37"/>
          <p:cNvSpPr/>
          <p:nvPr/>
        </p:nvSpPr>
        <p:spPr bwMode="gray">
          <a:xfrm>
            <a:off x="6788616" y="-724"/>
            <a:ext cx="4032000" cy="6858724"/>
          </a:xfrm>
          <a:custGeom>
            <a:avLst/>
            <a:gdLst/>
            <a:ahLst/>
            <a:cxnLst/>
            <a:rect l="l" t="t" r="r" b="b"/>
            <a:pathLst>
              <a:path w="4032000" h="6858724">
                <a:moveTo>
                  <a:pt x="1327939" y="0"/>
                </a:moveTo>
                <a:lnTo>
                  <a:pt x="4032000" y="0"/>
                </a:lnTo>
                <a:lnTo>
                  <a:pt x="2780422" y="6464325"/>
                </a:lnTo>
                <a:lnTo>
                  <a:pt x="517853" y="6858724"/>
                </a:lnTo>
                <a:lnTo>
                  <a:pt x="0" y="6858724"/>
                </a:lnTo>
                <a:close/>
              </a:path>
            </a:pathLst>
          </a:custGeom>
          <a:blipFill>
            <a:blip r:embed="rId4"/>
            <a:srcRect/>
            <a:stretch>
              <a:fillRect l="-105929" r="-4923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arallelogramm 38"/>
          <p:cNvSpPr/>
          <p:nvPr/>
        </p:nvSpPr>
        <p:spPr bwMode="gray">
          <a:xfrm>
            <a:off x="9566485" y="0"/>
            <a:ext cx="2627107" cy="6464770"/>
          </a:xfrm>
          <a:custGeom>
            <a:avLst/>
            <a:gdLst/>
            <a:ahLst/>
            <a:cxnLst/>
            <a:rect l="l" t="t" r="r" b="b"/>
            <a:pathLst>
              <a:path w="2627107" h="6464770">
                <a:moveTo>
                  <a:pt x="1251664" y="0"/>
                </a:moveTo>
                <a:lnTo>
                  <a:pt x="2627107" y="0"/>
                </a:lnTo>
                <a:lnTo>
                  <a:pt x="2627107" y="6007241"/>
                </a:lnTo>
                <a:lnTo>
                  <a:pt x="2624724" y="6007241"/>
                </a:lnTo>
                <a:lnTo>
                  <a:pt x="2624723" y="6007241"/>
                </a:lnTo>
                <a:lnTo>
                  <a:pt x="0" y="6464770"/>
                </a:lnTo>
                <a:close/>
              </a:path>
            </a:pathLst>
          </a:custGeom>
          <a:blipFill>
            <a:blip r:embed="rId5"/>
            <a:srcRect/>
            <a:stretch>
              <a:fillRect l="-22293" r="-2229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195" y="1515850"/>
            <a:ext cx="3948517" cy="2349099"/>
          </a:xfrm>
        </p:spPr>
        <p:txBody>
          <a:bodyPr>
            <a:normAutofit fontScale="90000"/>
          </a:bodyPr>
          <a:lstStyle/>
          <a:p>
            <a:br>
              <a:rPr lang="en-US" sz="1400" dirty="0"/>
            </a:br>
            <a:r>
              <a:rPr lang="en-US" sz="2000" b="1" dirty="0">
                <a:solidFill>
                  <a:schemeClr val="bg1"/>
                </a:solidFill>
              </a:rPr>
              <a:t>Compare Transformation rules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Identify template Study 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Identify template Table 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Identify </a:t>
            </a:r>
            <a:r>
              <a:rPr lang="en-US" sz="2000" b="1" dirty="0" err="1">
                <a:solidFill>
                  <a:schemeClr val="bg1"/>
                </a:solidFill>
              </a:rPr>
              <a:t>RAWp</a:t>
            </a:r>
            <a:r>
              <a:rPr lang="en-US" sz="2000" b="1" dirty="0">
                <a:solidFill>
                  <a:schemeClr val="bg1"/>
                </a:solidFill>
              </a:rPr>
              <a:t> Spec issues   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Data Dictionary on Data Mart</a:t>
            </a:r>
            <a:br>
              <a:rPr lang="en-US" sz="1050" dirty="0"/>
            </a:br>
            <a:r>
              <a:rPr lang="en-US" sz="1050" dirty="0"/>
              <a:t> </a:t>
            </a:r>
            <a:br>
              <a:rPr lang="en-US" sz="105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 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1370491" y="4447713"/>
            <a:ext cx="2960221" cy="894438"/>
          </a:xfrm>
        </p:spPr>
        <p:txBody>
          <a:bodyPr/>
          <a:lstStyle/>
          <a:p>
            <a:r>
              <a:rPr lang="en-US" dirty="0"/>
              <a:t>Madhu Allu</a:t>
            </a:r>
          </a:p>
        </p:txBody>
      </p:sp>
      <p:cxnSp>
        <p:nvCxnSpPr>
          <p:cNvPr id="7" name="Straight Connector 6"/>
          <p:cNvCxnSpPr/>
          <p:nvPr/>
        </p:nvCxnSpPr>
        <p:spPr bwMode="gray">
          <a:xfrm flipH="1">
            <a:off x="6788617" y="-724"/>
            <a:ext cx="1330409" cy="6858724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 flipH="1">
            <a:off x="4087026" y="-724"/>
            <a:ext cx="1330409" cy="6858724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 bwMode="gray">
          <a:xfrm flipH="1">
            <a:off x="9567516" y="-724"/>
            <a:ext cx="1253994" cy="646477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54420E-91D4-5948-9352-2A4F5EBB3AD5}"/>
              </a:ext>
            </a:extLst>
          </p:cNvPr>
          <p:cNvSpPr txBox="1"/>
          <p:nvPr/>
        </p:nvSpPr>
        <p:spPr>
          <a:xfrm>
            <a:off x="383088" y="1813236"/>
            <a:ext cx="3995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814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6A18A1-F7F2-482A-8869-ADA19A25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Compare Transformation rules between spec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CCD8F-E651-41DC-9174-2F56876CC021}"/>
              </a:ext>
            </a:extLst>
          </p:cNvPr>
          <p:cNvSpPr txBox="1"/>
          <p:nvPr/>
        </p:nvSpPr>
        <p:spPr>
          <a:xfrm>
            <a:off x="384890" y="2717288"/>
            <a:ext cx="87591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rgbClr val="7030A0"/>
                </a:solidFill>
              </a:rPr>
              <a:t>Input: </a:t>
            </a: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Source and Target study specs </a:t>
            </a:r>
          </a:p>
          <a:p>
            <a:endParaRPr lang="de-DE" b="1" dirty="0">
              <a:solidFill>
                <a:srgbClr val="7030A0"/>
              </a:solidFill>
            </a:endParaRPr>
          </a:p>
          <a:p>
            <a:r>
              <a:rPr lang="de-DE" b="1" dirty="0">
                <a:solidFill>
                  <a:srgbClr val="7030A0"/>
                </a:solidFill>
              </a:rPr>
              <a:t>Output: </a:t>
            </a: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What’s difference on Table level transformations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What’s difference on Column level transformations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How much % transformation rules  matched between source and target study 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Number of matched variables and %  for each 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Number of missing and additional variables in backend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What’s risk % by table when copy transformation from source study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Identify when source variable not found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Define flag variables and set </a:t>
            </a:r>
            <a:r>
              <a:rPr lang="en-US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 comparison status </a:t>
            </a: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3049B0-09E6-472E-B565-51DAE12DB33C}"/>
              </a:ext>
            </a:extLst>
          </p:cNvPr>
          <p:cNvSpPr txBox="1"/>
          <p:nvPr/>
        </p:nvSpPr>
        <p:spPr>
          <a:xfrm>
            <a:off x="410185" y="1114696"/>
            <a:ext cx="65218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rgbClr val="7030A0"/>
                </a:solidFill>
              </a:rPr>
              <a:t>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Compare structure and </a:t>
            </a:r>
            <a:r>
              <a:rPr lang="en-US" sz="1800" dirty="0">
                <a:solidFill>
                  <a:srgbClr val="7030A0"/>
                </a:solidFill>
              </a:rPr>
              <a:t>Transformation rules </a:t>
            </a:r>
            <a:r>
              <a:rPr lang="en-GB" sz="1800" dirty="0">
                <a:solidFill>
                  <a:srgbClr val="7030A0"/>
                </a:solidFill>
                <a:latin typeface="Calibri" panose="020F0502020204030204" pitchFamily="34" charset="0"/>
              </a:rPr>
              <a:t>between spec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Compare on Table level ,columns level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 Summary statistics and risk % </a:t>
            </a:r>
            <a:endParaRPr lang="en-GB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EFD3E-BB60-4203-A0B3-4E0BA5D60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204" y="995788"/>
            <a:ext cx="2867025" cy="1771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49BF7F-0AB4-4A1C-927D-063CEABF4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488" y="3429000"/>
            <a:ext cx="3873353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76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3F3730-9E48-45EF-AC82-8C5F160EC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u="sng" dirty="0">
                <a:latin typeface="Calibri" panose="020F0502020204030204" pitchFamily="34" charset="0"/>
              </a:rPr>
              <a:t>Table level transformations ?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E408C-F496-4F74-8219-027073A58965}"/>
              </a:ext>
            </a:extLst>
          </p:cNvPr>
          <p:cNvSpPr txBox="1"/>
          <p:nvPr/>
        </p:nvSpPr>
        <p:spPr>
          <a:xfrm>
            <a:off x="444137" y="1692269"/>
            <a:ext cx="11434353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u="sng" dirty="0">
                <a:solidFill>
                  <a:srgbClr val="7030A0"/>
                </a:solidFill>
                <a:latin typeface="Calibri" panose="020F0502020204030204" pitchFamily="34" charset="0"/>
              </a:rPr>
              <a:t>What’s difference on Table level transformations ?</a:t>
            </a:r>
          </a:p>
          <a:p>
            <a:r>
              <a:rPr lang="en-GB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 Compare transformation rules  on table workbook  and return one of below category  for each table</a:t>
            </a:r>
            <a:r>
              <a:rPr lang="en-GB" sz="1800" b="1" i="1" u="sng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    </a:t>
            </a:r>
            <a:endParaRPr lang="en-US" sz="1800" b="1" i="1" u="sng" dirty="0">
              <a:solidFill>
                <a:srgbClr val="7030A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All table property matched 100%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 Name and  Mapped from Tables fields are matching but  Transformation Rules field not matching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 Name and  Transformation Rules fields are matching but  Mapped from Tables fields not matching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Table Name match but Mapped from Tables and Transformation Rules both fields are   not matching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Table not in source  study but found in target study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New table in source study , not found in target study</a:t>
            </a:r>
            <a:r>
              <a:rPr lang="en-GB" sz="16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 </a:t>
            </a:r>
            <a:r>
              <a:rPr lang="en-GB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endParaRPr lang="en-GB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</a:p>
          <a:p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</a:rPr>
              <a:t>        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 </a:t>
            </a: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C1E463-FDD0-4E9A-8456-42BAD9DB4466}"/>
              </a:ext>
            </a:extLst>
          </p:cNvPr>
          <p:cNvSpPr txBox="1"/>
          <p:nvPr/>
        </p:nvSpPr>
        <p:spPr>
          <a:xfrm>
            <a:off x="313511" y="1045938"/>
            <a:ext cx="91439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  <a:latin typeface="Calibri" panose="020F0502020204030204" pitchFamily="34" charset="0"/>
              </a:rPr>
              <a:t>Compare Source and Target Specs on table sheet  by run R program using setup guide :</a:t>
            </a:r>
          </a:p>
          <a:p>
            <a:endParaRPr lang="en-GB" b="1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734CAF-D792-4D1F-85CA-BE33B7EAF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493" y="4835298"/>
            <a:ext cx="728662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5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6A18A1-F7F2-482A-8869-ADA19A25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Visualizations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5200E-19E1-412E-B01E-B9C655C9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8869"/>
            <a:ext cx="12192000" cy="554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3F3730-9E48-45EF-AC82-8C5F160ECF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3510" y="182563"/>
            <a:ext cx="11878490" cy="863600"/>
          </a:xfrm>
        </p:spPr>
        <p:txBody>
          <a:bodyPr>
            <a:normAutofit/>
          </a:bodyPr>
          <a:lstStyle/>
          <a:p>
            <a:r>
              <a:rPr lang="en-GB" sz="2800" b="1" u="sng" dirty="0">
                <a:latin typeface="Calibri" panose="020F0502020204030204" pitchFamily="34" charset="0"/>
              </a:rPr>
              <a:t>Column level transformations?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E408C-F496-4F74-8219-027073A58965}"/>
              </a:ext>
            </a:extLst>
          </p:cNvPr>
          <p:cNvSpPr txBox="1"/>
          <p:nvPr/>
        </p:nvSpPr>
        <p:spPr>
          <a:xfrm>
            <a:off x="165463" y="1045938"/>
            <a:ext cx="11713027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  <a:latin typeface="Calibri" panose="020F0502020204030204" pitchFamily="34" charset="0"/>
              </a:rPr>
              <a:t>Compare Source and Target Specs on Column sheet  by run R program using setup guide :</a:t>
            </a:r>
          </a:p>
          <a:p>
            <a:endParaRPr lang="en-GB" b="1" u="sng" dirty="0">
              <a:solidFill>
                <a:srgbClr val="7030A0"/>
              </a:solidFill>
              <a:latin typeface="Calibri" panose="020F0502020204030204" pitchFamily="34" charset="0"/>
            </a:endParaRPr>
          </a:p>
          <a:p>
            <a:r>
              <a:rPr lang="en-GB" b="1" u="sng" dirty="0">
                <a:solidFill>
                  <a:srgbClr val="7030A0"/>
                </a:solidFill>
                <a:latin typeface="Calibri" panose="020F0502020204030204" pitchFamily="34" charset="0"/>
              </a:rPr>
              <a:t>What’s difference on Column level transformations?</a:t>
            </a:r>
          </a:p>
          <a:p>
            <a:r>
              <a:rPr lang="en-US" sz="18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</a:t>
            </a:r>
            <a:r>
              <a:rPr lang="en-US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Compare transformation rules  on column  workbook  and return one of below category  for each column </a:t>
            </a:r>
            <a:r>
              <a:rPr lang="en-GB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    </a:t>
            </a:r>
            <a:endParaRPr lang="en-US" sz="1800" i="1" dirty="0">
              <a:solidFill>
                <a:srgbClr val="7030A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All columns  properties  matched 100% between source study and target study 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'Model Name', 'Table Name' , 'Column Name', 'Column Map Info' ,   'Conversion Expression' ,'Implementation Notes' fields   match but not match additional fields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 Name ,column Name, Conversion Expression,  Implementation Notes fields are matching but Column Map Info field  not matching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 Name ,column Name,  Column Map Info , Conversion Expression fields are matching but  Implementation Notes field  not matching   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 Name ,column Name, Column Map Info , Implementation Notes  fields are matching but Conversion Expression field  not matching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 Name ,column Name ,Implementation Notes fields are matching but Column Map Info, Conversion Expression fields are not matching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 Name ,column Name , Column Map Info fields are matching but Conversion Expression,   Implementation Notes  fields are not matching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 Name ,column Name , Conversion Expression fields are matching but Column Map Info, Implementation Notes fields are not matching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 Name , column Name are matching but Column Map Info, Conversion  expression, Implementation Notes fields are not matching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New fields  in source study , not found in target study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4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Table. column not in source study but found in target study</a:t>
            </a:r>
            <a:endParaRPr lang="en-GB" sz="1800" i="1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</a:rPr>
              <a:t>        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 </a:t>
            </a: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3B3451-230A-4DAF-AF79-913A7A242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0" y="4823926"/>
            <a:ext cx="9982200" cy="203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7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0A82D-7BFB-41D6-BED3-D09877A4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FAQ: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498C-D133-49D4-823A-74DCB7A4527E}"/>
              </a:ext>
            </a:extLst>
          </p:cNvPr>
          <p:cNvSpPr txBox="1"/>
          <p:nvPr/>
        </p:nvSpPr>
        <p:spPr>
          <a:xfrm>
            <a:off x="374469" y="1254035"/>
            <a:ext cx="1181753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How much % transformation rules  matched between source and target study ?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Summary statistics (Number of variables &amp;percentage )for each matched group by table  </a:t>
            </a:r>
            <a:endParaRPr lang="en-US" sz="1800" i="1" dirty="0">
              <a:solidFill>
                <a:srgbClr val="7030A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Number of matched variables and %  for each table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Structure % match by table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Number of missing and additional variables in backend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Compare spec vs DB and return missing/additional columns in data model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What’s risk % by table when copy transformation from source study ?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Risk % for each table when copy table without update  Transformation rules</a:t>
            </a:r>
          </a:p>
          <a:p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Identify when source variable not found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Recognize source data model based on Spec and verify source table/column in DB  </a:t>
            </a:r>
          </a:p>
          <a:p>
            <a:pPr lvl="2"/>
            <a:endParaRPr lang="en-US" sz="1800" i="1" dirty="0">
              <a:solidFill>
                <a:srgbClr val="7030A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Define flag variables and set </a:t>
            </a:r>
            <a:r>
              <a:rPr lang="en-US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table comparison status</a:t>
            </a: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800" i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Derived flag for each comparison level and define table comparison status is passed or failed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12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0A82D-7BFB-41D6-BED3-D09877A4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find Template study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498C-D133-49D4-823A-74DCB7A4527E}"/>
              </a:ext>
            </a:extLst>
          </p:cNvPr>
          <p:cNvSpPr txBox="1"/>
          <p:nvPr/>
        </p:nvSpPr>
        <p:spPr>
          <a:xfrm>
            <a:off x="267572" y="1045938"/>
            <a:ext cx="1178181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Overview :</a:t>
            </a:r>
            <a:endParaRPr lang="en-GB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Find template study </a:t>
            </a: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that has the highest % reusability 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Checks listed source studies in one go and return % reusability from each source study .  </a:t>
            </a: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 </a:t>
            </a:r>
          </a:p>
          <a:p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Input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N</a:t>
            </a:r>
            <a:r>
              <a:rPr lang="en-US" sz="18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eed  only table(Form) and column(Question)  from each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Extract 03_EDC metadata from listed source studies and target study to compare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800" i="1" u="sng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Output</a:t>
            </a:r>
            <a:r>
              <a:rPr lang="en-US" i="1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 :</a:t>
            </a:r>
            <a:endParaRPr lang="en-US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Compare each table and column from source studies against target study  and return summary statistics 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Compare each table and return number of additional tables by study, variables by table  between source to target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i="1" dirty="0">
              <a:solidFill>
                <a:srgbClr val="7030A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US" sz="1800" u="sng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Suggestion to identify source study </a:t>
            </a: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 </a:t>
            </a:r>
          </a:p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Choose source studies with below  eligible criteria </a:t>
            </a: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Choose study from same Bay# in Trail tracker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ame Combination of  TA + Phase +Trial objective+ Trial design Factor list  + Random blinded structure control variables in Trial tracker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ind rarely  used CRF forms(tables) and search in EDC history (DB)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Ask study team if they know similar protocol 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*Prefer recent completed studies (at least QCM and P21 report  shouldn’t  have open issues) for Phase I-II</a:t>
            </a:r>
            <a:endParaRPr lang="en-GB" sz="18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6DBED-C5B9-4B33-8356-4405E88C1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430" y="1"/>
            <a:ext cx="2710149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4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0A82D-7BFB-41D6-BED3-D09877A4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It work ?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498C-D133-49D4-823A-74DCB7A4527E}"/>
              </a:ext>
            </a:extLst>
          </p:cNvPr>
          <p:cNvSpPr txBox="1"/>
          <p:nvPr/>
        </p:nvSpPr>
        <p:spPr>
          <a:xfrm>
            <a:off x="267572" y="1045938"/>
            <a:ext cx="1178181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US" sz="1800" u="sng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Follow steps in same sequence order :</a:t>
            </a:r>
          </a:p>
          <a:p>
            <a:endParaRPr lang="en-GB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Calculate template table %-&gt; Return structure match % for each table in each source study </a:t>
            </a: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</a:t>
            </a:r>
            <a:r>
              <a:rPr lang="en-GB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Compare target table structure  match %  in all listed source studies </a:t>
            </a:r>
            <a:r>
              <a:rPr lang="en-US" sz="1800" i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Formula:  Number of matched variables / number of unique variables from source and target </a:t>
            </a:r>
          </a:p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>
              <a:buAutoNum type="arabicPeriod" startAt="2"/>
            </a:pP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Calculate template Study based on template table match % calculation-&gt;Return structure match % by Study</a:t>
            </a:r>
            <a:endParaRPr lang="en-US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</a:t>
            </a:r>
            <a:r>
              <a:rPr lang="en-US" sz="1800" i="1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Calculate Average of </a:t>
            </a:r>
            <a:r>
              <a:rPr lang="en-GB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template table  %  group by Study by Data Model</a:t>
            </a:r>
          </a:p>
          <a:p>
            <a:r>
              <a:rPr lang="en-GB" i="1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 Formula : Sum of </a:t>
            </a:r>
            <a:r>
              <a:rPr lang="en-GB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template table  %</a:t>
            </a:r>
            <a:r>
              <a:rPr lang="en-GB" i="1" dirty="0">
                <a:solidFill>
                  <a:srgbClr val="7030A0"/>
                </a:solidFill>
                <a:latin typeface="Times New Roman" panose="02020603050405020304" pitchFamily="18" charset="0"/>
              </a:rPr>
              <a:t> / Number of unique tables from source and target </a:t>
            </a:r>
          </a:p>
          <a:p>
            <a:endParaRPr lang="en-GB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Tx/>
              <a:buAutoNum type="arabicPeriod" startAt="3"/>
            </a:pP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</a:rPr>
              <a:t>Don’t choose Max %  structure match study as template study -&gt; Should review changes and decide </a:t>
            </a:r>
          </a:p>
          <a:p>
            <a:endParaRPr lang="en-GB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</a:rPr>
              <a:t>4. Review minimum number of  new target tables against source at least for 5 studies -&gt; Help what’s are table level changes</a:t>
            </a: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</a:rPr>
              <a:t>      </a:t>
            </a:r>
            <a:r>
              <a:rPr lang="en-GB" i="1" dirty="0">
                <a:solidFill>
                  <a:srgbClr val="7030A0"/>
                </a:solidFill>
                <a:latin typeface="Times New Roman" panose="02020603050405020304" pitchFamily="18" charset="0"/>
              </a:rPr>
              <a:t>Recommended to consider  recent completed  studies at least in last 12 months for Phase 1-II.</a:t>
            </a:r>
          </a:p>
          <a:p>
            <a:r>
              <a:rPr lang="en-GB" i="1" dirty="0">
                <a:solidFill>
                  <a:srgbClr val="7030A0"/>
                </a:solidFill>
                <a:latin typeface="Times New Roman" panose="02020603050405020304" pitchFamily="18" charset="0"/>
              </a:rPr>
              <a:t>      Recommended to consider on-going studies </a:t>
            </a:r>
            <a:r>
              <a:rPr lang="en-GB" i="1" dirty="0">
                <a:solidFill>
                  <a:srgbClr val="00B050"/>
                </a:solidFill>
                <a:latin typeface="Times New Roman" panose="02020603050405020304" pitchFamily="18" charset="0"/>
              </a:rPr>
              <a:t>also</a:t>
            </a:r>
            <a:r>
              <a:rPr lang="en-GB" i="1" dirty="0">
                <a:solidFill>
                  <a:srgbClr val="7030A0"/>
                </a:solidFill>
                <a:latin typeface="Times New Roman" panose="02020603050405020304" pitchFamily="18" charset="0"/>
              </a:rPr>
              <a:t> for Phase III-IV .</a:t>
            </a: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</a:rPr>
              <a:t>      </a:t>
            </a: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</a:rPr>
              <a:t>5. Decide which source study best fit to reuse -&gt; Based on Minimal changes and open issues</a:t>
            </a:r>
          </a:p>
          <a:p>
            <a:endParaRPr lang="en-GB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r>
              <a:rPr lang="en-GB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Environment:  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</a:rPr>
              <a:t>Developed using R program . Need R studio IDE or R studio(Web application) to run program </a:t>
            </a:r>
          </a:p>
          <a:p>
            <a:pPr marL="342900" indent="-342900">
              <a:buAutoNum type="arabicPeriod" startAt="3"/>
            </a:pPr>
            <a:endParaRPr lang="en-GB" dirty="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84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0A82D-7BFB-41D6-BED3-D09877A4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Before start Study build activity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498C-D133-49D4-823A-74DCB7A4527E}"/>
              </a:ext>
            </a:extLst>
          </p:cNvPr>
          <p:cNvSpPr txBox="1"/>
          <p:nvPr/>
        </p:nvSpPr>
        <p:spPr>
          <a:xfrm>
            <a:off x="267572" y="1045938"/>
            <a:ext cx="1178181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US" sz="1800" u="sng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Recommended steps</a:t>
            </a: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:</a:t>
            </a:r>
            <a:endParaRPr lang="en-US" sz="1800" u="sng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800" u="sng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GB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 indent="-342900">
              <a:buFont typeface="+mj-lt"/>
              <a:buAutoNum type="arabicPeriod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First load 03_EDC  Data Model Metadata and data  into DMW  </a:t>
            </a:r>
          </a:p>
          <a:p>
            <a:pPr lvl="0" indent="-342900">
              <a:buFont typeface="+mj-lt"/>
              <a:buAutoNum type="arabicPeriod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Run Noise detector report  and confirm no open issue between RAVE and DMW . 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indent="-342900">
              <a:buFont typeface="+mj-lt"/>
              <a:buAutoNum type="arabicPeriod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Identify template study  and then apply template study .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Don’t run sync utility at this stage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.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lvl="0" indent="-342900">
              <a:buFont typeface="+mj-lt"/>
              <a:buAutoNum type="arabicPeriod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Data Model “03_EDC_1”</a:t>
            </a:r>
            <a:r>
              <a:rPr lang="en-US">
                <a:solidFill>
                  <a:srgbClr val="7030A0"/>
                </a:solidFill>
                <a:latin typeface="Times New Roman" panose="02020603050405020304" pitchFamily="18" charset="0"/>
              </a:rPr>
              <a:t>will be appear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in DMW because it’s template study copy .Delete “03_EDC_1” Data Model.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lvl="0" indent="-342900">
              <a:buFont typeface="+mj-lt"/>
              <a:buAutoNum type="arabicPeriod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Identify spec issues in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RAWp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and follow-up with Standards team to fix .</a:t>
            </a:r>
          </a:p>
          <a:p>
            <a:pPr lvl="0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   'Column Map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Info','Conversion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Expression' &amp; 'Implementation Notes' fields are NULL.</a:t>
            </a:r>
          </a:p>
          <a:p>
            <a:pPr lvl="0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   Source table/column specified in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RAWp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not find in RAVE.   </a:t>
            </a:r>
          </a:p>
          <a:p>
            <a:pPr lvl="0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6.  Dry run of Sync utility (Preview ) on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RAWp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</a:p>
          <a:p>
            <a:pPr lvl="0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  Return how many columns /tables dropped/added between target and source study . </a:t>
            </a:r>
          </a:p>
          <a:p>
            <a:pPr lvl="0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  If any table/columns missing in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RAWp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spec, please review and confirm before drop by sync utility  .   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7.  Run sync utility now </a:t>
            </a:r>
          </a:p>
          <a:p>
            <a:pPr lvl="0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8.  Start Study build activities </a:t>
            </a:r>
          </a:p>
          <a:p>
            <a:pPr lvl="0"/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9. 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RAWp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spec compare report to detect what’s difference between target and source study .It helps to re-use transformations.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endParaRPr lang="en-GB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342900" indent="-342900">
              <a:buAutoNum type="arabicPeriod" startAt="3"/>
            </a:pPr>
            <a:endParaRPr lang="en-GB" dirty="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316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0A82D-7BFB-41D6-BED3-D09877A4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find Template Table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498C-D133-49D4-823A-74DCB7A4527E}"/>
              </a:ext>
            </a:extLst>
          </p:cNvPr>
          <p:cNvSpPr txBox="1"/>
          <p:nvPr/>
        </p:nvSpPr>
        <p:spPr>
          <a:xfrm>
            <a:off x="410185" y="1045938"/>
            <a:ext cx="1178181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Problem Statement:</a:t>
            </a:r>
            <a:endParaRPr lang="en-GB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If target table not in template study , which source study use to copy transformation? </a:t>
            </a: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If target table 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have better structure match % i</a:t>
            </a:r>
            <a:r>
              <a:rPr lang="en-GB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 Non-template study , can we copy?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u="sng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Overview :</a:t>
            </a:r>
            <a:endParaRPr lang="en-GB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Find template Table  </a:t>
            </a: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that has the highest % reusability 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Checks listed source studies in one go and return % reusability from  each source study .  </a:t>
            </a: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Can compare Any model and multiple models in one go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Input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N</a:t>
            </a:r>
            <a:r>
              <a:rPr lang="en-US" sz="18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eed table(Form) and column(Question)  from Data Model for Source and Target Study </a:t>
            </a:r>
            <a:endParaRPr lang="en-US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1800" i="1" u="sng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800" i="1" u="sng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Output</a:t>
            </a:r>
            <a:r>
              <a:rPr lang="en-US" i="1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 :</a:t>
            </a:r>
            <a:endParaRPr lang="en-US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Compare each table and column from source studies against target study  and return summary statistics 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Compare each table and return number of additional variables between source to target </a:t>
            </a:r>
            <a:endParaRPr lang="en-US" sz="1800" i="1" dirty="0">
              <a:solidFill>
                <a:srgbClr val="7030A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21CC0-9A7A-FBC3-6EC5-CD277D425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609" y="-170575"/>
            <a:ext cx="3764908" cy="388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0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0A82D-7BFB-41D6-BED3-D09877A4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Template Table &amp; Study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E77FE5-C888-4A61-655E-1ACD24933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5938"/>
            <a:ext cx="12192000" cy="581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1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0A82D-7BFB-41D6-BED3-D09877A47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948" y="181938"/>
            <a:ext cx="10844291" cy="627959"/>
          </a:xfrm>
        </p:spPr>
        <p:txBody>
          <a:bodyPr>
            <a:normAutofit fontScale="90000"/>
          </a:bodyPr>
          <a:lstStyle/>
          <a:p>
            <a:r>
              <a:rPr lang="en-GB" dirty="0"/>
              <a:t>Template Table Analysis by Study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89FB7-431E-09C4-A3B5-D6F777354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12192000" cy="53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4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0A82D-7BFB-41D6-BED3-D09877A47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948" y="181938"/>
            <a:ext cx="10844291" cy="62795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</a:rPr>
              <a:t>Review changes and decide</a:t>
            </a:r>
            <a:endParaRPr lang="en-GB" dirty="0"/>
          </a:p>
        </p:txBody>
      </p:sp>
      <p:pic>
        <p:nvPicPr>
          <p:cNvPr id="1026" name="Picture 4">
            <a:extLst>
              <a:ext uri="{FF2B5EF4-FFF2-40B4-BE49-F238E27FC236}">
                <a16:creationId xmlns:a16="http://schemas.microsoft.com/office/drawing/2014/main" id="{FF10C9E9-8C2E-D459-906C-A55D521F9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5" y="1221166"/>
            <a:ext cx="11918723" cy="3836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470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0A82D-7BFB-41D6-BED3-D09877A4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to find Spec issues in </a:t>
            </a:r>
            <a:r>
              <a:rPr lang="en-GB" dirty="0" err="1"/>
              <a:t>RAWp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498C-D133-49D4-823A-74DCB7A4527E}"/>
              </a:ext>
            </a:extLst>
          </p:cNvPr>
          <p:cNvSpPr txBox="1"/>
          <p:nvPr/>
        </p:nvSpPr>
        <p:spPr>
          <a:xfrm>
            <a:off x="410185" y="1045938"/>
            <a:ext cx="1178181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Overview: </a:t>
            </a:r>
            <a:endParaRPr lang="en-GB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</a:t>
            </a:r>
            <a:r>
              <a:rPr lang="en-GB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heck 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if any column have column map info and conversation expression and Implementation fields are NULL </a:t>
            </a:r>
            <a:r>
              <a:rPr lang="en-GB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Check if specified source table/column  in </a:t>
            </a:r>
            <a:r>
              <a:rPr lang="en-GB" sz="180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GB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spec not exist in source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Check if any variable in source not used in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spec - specially from  RAVE source </a:t>
            </a:r>
            <a:endParaRPr lang="en-GB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Input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N</a:t>
            </a:r>
            <a:r>
              <a:rPr lang="en-US" sz="18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eed </a:t>
            </a:r>
            <a:r>
              <a:rPr lang="en-US" sz="18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US" sz="18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spec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Need Metadata from target study Data Models</a:t>
            </a:r>
            <a:endParaRPr lang="en-US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1800" i="1" u="sng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800" i="1" u="sng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Output</a:t>
            </a:r>
            <a:r>
              <a:rPr lang="en-US" i="1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 :</a:t>
            </a:r>
            <a:endParaRPr lang="en-US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column map info and conversation expression and Implementation fields are NULL</a:t>
            </a:r>
            <a:r>
              <a:rPr lang="en-US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source table  specified in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spec  not find in DB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source column specified in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spec not find in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source table found but column specified in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spec  not find in DB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Additional variables in source data model never used in </a:t>
            </a:r>
            <a:r>
              <a:rPr lang="en-US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spec –specially from RAVE source . </a:t>
            </a:r>
            <a:endParaRPr lang="en-US" sz="1800" i="1" dirty="0">
              <a:solidFill>
                <a:srgbClr val="7030A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52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4AD00-29EA-0832-8909-F4CE1E4F8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1B2E42-4136-8F26-20DA-4379ADAE7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It work ?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FF714-B846-A2D8-BE01-D19E42D9D0AE}"/>
              </a:ext>
            </a:extLst>
          </p:cNvPr>
          <p:cNvSpPr txBox="1"/>
          <p:nvPr/>
        </p:nvSpPr>
        <p:spPr>
          <a:xfrm>
            <a:off x="267572" y="1045938"/>
            <a:ext cx="11781815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US" sz="1800" u="sng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Follow steps in same sequence order :</a:t>
            </a:r>
          </a:p>
          <a:p>
            <a:endParaRPr lang="en-GB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1. </a:t>
            </a:r>
            <a:r>
              <a:rPr lang="en-GB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Create </a:t>
            </a:r>
            <a:r>
              <a:rPr lang="en-GB" sz="180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Source_Dataset</a:t>
            </a:r>
            <a:r>
              <a:rPr lang="en-GB" sz="18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with below columns </a:t>
            </a: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Source Data Model, Source Table, Source column, </a:t>
            </a:r>
          </a:p>
          <a:p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Table_InSpec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Workbook_InSpec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Column_InSpec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Org_Value_in_Spec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IsValidTable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>
              <a:buAutoNum type="arabicPeriod" startAt="2"/>
            </a:pP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Import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spec, then Merge Tables and Columns workbook by Table and fill data in below columns  </a:t>
            </a:r>
          </a:p>
          <a:p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Table_InSpec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Workbook_InSpec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Column_InSpec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GB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Org_Value_in_Spec</a:t>
            </a:r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Rest of columns have NULL value at this stage </a:t>
            </a:r>
          </a:p>
          <a:p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3. Remove  below characters/words from Specified columns in spec .</a:t>
            </a:r>
          </a:p>
          <a:p>
            <a:r>
              <a:rPr lang="en-GB" sz="16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Mapped from Tables:</a:t>
            </a: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10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"LJOIN","LOJOIN","1.1TO1:", "1TO1" ,"1. ","2. ", "2.", " ", "4.", "5.", "6.","7.", "8.", "9.", ":","|",")","(","=" </a:t>
            </a:r>
          </a:p>
          <a:p>
            <a:r>
              <a:rPr lang="en-US" sz="10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"All relevant tables based on Guideline for SE </a:t>
            </a:r>
            <a:r>
              <a:rPr lang="en-US" sz="1000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Calculations","PROVIDER</a:t>
            </a:r>
            <a:r>
              <a:rPr lang="en-US" sz="10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NOT YET SELECTED","%","?","12",".%","=“</a:t>
            </a:r>
          </a:p>
          <a:p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</a:p>
          <a:p>
            <a:r>
              <a:rPr lang="en-US" sz="16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Transformation Rules:</a:t>
            </a:r>
          </a:p>
          <a:p>
            <a:r>
              <a:rPr lang="en-US" sz="10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"LJOIN","LOJOIN","1.1TO1:", "1TO1" ,"1. ","2. ", "4.", "5.", "6.","7.", "8.", "9.", ":" ,"|",")","(","%","?","12",".%","=" </a:t>
            </a:r>
          </a:p>
          <a:p>
            <a:r>
              <a:rPr lang="en-US" sz="10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"(Refer to </a:t>
            </a:r>
            <a:r>
              <a:rPr lang="en-US" sz="1000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US" sz="10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Rulebook for specific combining instructions)", "Exclude patients with W_DM.SCRFLNY='Y'" ,"Based on TDD Spec Tab </a:t>
            </a:r>
            <a:r>
              <a:rPr lang="en-US" sz="1000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RF_Points</a:t>
            </a:r>
            <a:r>
              <a:rPr lang="en-US" sz="10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 "10_RAWp.W_TA See TDD Specification </a:t>
            </a:r>
            <a:r>
              <a:rPr lang="en-US" sz="1000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add_Epoch_conditions</a:t>
            </a:r>
            <a:r>
              <a:rPr lang="en-US" sz="10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for additional EPOCH Assignment </a:t>
            </a:r>
            <a:r>
              <a:rPr lang="en-US" sz="1000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guidances</a:t>
            </a:r>
            <a:r>
              <a:rPr lang="en-US" sz="10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.", "(Filter to exclude BLANK_REC=ENTERABLE BLANK)", "See Guideline for SE Calculation", "PROVIDER NOT YET SELECTED", "EJOIN","LIKE '%MLM%' JOIN by STUDYID,SUBJECTNAME,VISITNR,LBDTC,LBEDCS, </a:t>
            </a:r>
            <a:r>
              <a:rPr lang="en-US" sz="1000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LBTPTC_DECOD,additional</a:t>
            </a:r>
            <a:r>
              <a:rPr lang="en-US" sz="10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criteria for unscheduled visits required. Use RPL_LB_FORMTEST to join between W_LB_EXT and W_LB_EDATA based on FORMOID and </a:t>
            </a:r>
            <a:r>
              <a:rPr lang="en-US" sz="1000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testcode</a:t>
            </a:r>
            <a:r>
              <a:rPr lang="en-US" sz="10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 "1a.", "1b.", "where", "If" ,"!","No", "=","MANUAL UPDATE </a:t>
            </a:r>
            <a:r>
              <a:rPr lang="en-US" sz="1000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NEEDED","Refer</a:t>
            </a:r>
            <a:r>
              <a:rPr lang="en-US" sz="10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to </a:t>
            </a:r>
            <a:r>
              <a:rPr lang="en-US" sz="1000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US" sz="10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Rulebook for specific combining </a:t>
            </a:r>
            <a:r>
              <a:rPr lang="en-US" sz="1000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instructions","PJOIN</a:t>
            </a:r>
            <a:r>
              <a:rPr lang="en-US" sz="10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 "RECORDS","PROCESSING","RESULTS", "EXPECTED","SINCE","AFTER","EXIST")</a:t>
            </a:r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6D129B-7977-6F05-F4BB-05DA8A38D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861" y="385011"/>
            <a:ext cx="3415526" cy="193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82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F1EE-E01E-0158-B884-E1343631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411DC6-29FB-09E7-FA13-E61564A5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It work ?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07808-2DE8-F1DE-6014-C3FC503EDAA1}"/>
              </a:ext>
            </a:extLst>
          </p:cNvPr>
          <p:cNvSpPr txBox="1"/>
          <p:nvPr/>
        </p:nvSpPr>
        <p:spPr>
          <a:xfrm>
            <a:off x="267572" y="1045938"/>
            <a:ext cx="11781815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Remove  below characters/words  in spec .</a:t>
            </a:r>
          </a:p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4.Columnmapinfo</a:t>
            </a:r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r>
              <a:rPr lang="en-US" sz="10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"LOJOIN", "1TO1" , "3.", "4.", "5.", "6.","7.", "8.", "9.", ":","|",")","(" ,"&lt;","&gt;“</a:t>
            </a:r>
            <a:endParaRPr lang="en-US" sz="10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5. </a:t>
            </a:r>
            <a:r>
              <a:rPr lang="en-US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ConversionExpression</a:t>
            </a:r>
            <a:r>
              <a:rPr lang="en-US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"If measurement field is not NULL then use global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function?BayerStudyUtils.fn_getMUnit?to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look up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Unit?Decod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decode","Use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global function", 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BayerGeneralUtils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 "&lt;Source Table&gt;",  "&lt;Source Table&gt;.", "Use global function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BayerGeneralUtils.fn_SDTM_ISO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with input parameter", "if available in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table","Use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global function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BayerTechUtils.fn_getStudyVisit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 "Use global function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BayerStudyUtils.fn_Lookup_Decode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with input parameter", "Use global function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BayerGeneralUtils.fn_getStudyDay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with input parameter", "Use global function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BayerRefUtils.fn_getPhase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with input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parameter","Populate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using the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table","Use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BayerGeneralUtils.fn_getEmptyRecInd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 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Default","Custom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Function to calculate the DTCVAL relative day based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on","See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rules in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rulebook","See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TDD Specification Tab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RE_Points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for study Reference Dates in the Reference timepoint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column","See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TDD Specification Tab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RE_Points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for source of the Date based on the Reference Timepoint Pseudo Code","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BayerTechUtils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 ,"Use global function","fn_getStudyVisit","fn_getStudyDay","fn_getPhase","with input parameter","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BayerStudyUtils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fn_Lookup_Decode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","If DTCVAL is a complete date/time value, else custom function to apply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the?Min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logic for partial date/time of the DTCVAL.","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Min?date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by SUBJECTNAME and EPOCH (based on applicable ELEMENTS) from W_SE, if min date is partial, then apply the","fn_getEmptyRecInd","BayerStudyUtils","fn_Lookup_Decode","Custom Function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to","calculate","determine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Phase","If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measurement field is not NULL then use global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function?BayerStudyUtils.fn_getMUnit?to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look up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Unit?Decod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","fn_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getMUnit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Min?date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Max?date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","by SUBJECTNAME and EPOCH (based on applicable ELEMENTS) from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W_SE","function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")</a:t>
            </a:r>
          </a:p>
          <a:p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"CHECKED ","NOT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CHECKED","complete","date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time","If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DTCVAL is a complete date/time value, else custom function to apply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the?Max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logic for partial date/time of the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DTCVAL.","For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qualitative results coming from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checkboxes","For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quantitative local lab tests, join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with","to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get lower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limit","Unpivot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function to include all lab test names from non-EDATA files., If Unpivot is a Checkbox variable and %_CB=1, then extract the Test Name by removing ?_CB? from the Test Name., For Check box variables, LBEDCS = REVERSE(SUBSTR(REVERSE(&lt;Variable Name&gt;),4)), , if missing, then LBEDCS='MISSING', , For 'NOT DONE' records LBEDCS='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MISSING'","Study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day based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on","Use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global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function?BayerGeneralUtils.fn_getStudyDay?with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input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parameter","See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Guideline for SE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Calculation","Use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SQL Expression RANK to derive STUDYOID from“</a:t>
            </a:r>
          </a:p>
          <a:p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"If DTCVAL is a complete date/time value, else custom function to apply the Min logic for partial date/time of the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DTCVAL.","Min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date by SUBJECTNAME and EPOCH (based on applicable ELEMENTS) from W_SE", "if min date is partial, then apply the Min logic." ,"not all variables are part of each study: regard only items which occur“</a:t>
            </a:r>
          </a:p>
          <a:p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For each test in EGTESTCD Value is populated from:", "Custom function to lookup BSP Label in XXFORMAT reference table based on" , "For qualitative results" , "If same value across records all records with same ECLNKID, use value from first record", "If multiple values across all records with same ECLNKID, use", "take from last record within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ECLNKID","Custom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function to look up Category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from","If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not found in SLAT“</a:t>
            </a:r>
          </a:p>
          <a:p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BayerRefUtils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 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BayerGeneralUtils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BayerStudyUtils.fn_Lookup_Decode?with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input parameter","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BayerStudyUtils.fn_Lookup_Decode?with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input parameter","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fn_SDTM_ISO?with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input parameter" ,"If same value across records all records with same ECLNKID, use value from first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record","If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multiple values across all records with same ECLNKID, use 99.“</a:t>
            </a:r>
          </a:p>
          <a:p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".fn_SDTM_ISO","MISSING","custom","logic","extract","Function","missing","pivot test code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from","Custom","populate","when","Original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value contained in“</a:t>
            </a:r>
          </a:p>
          <a:p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"TRIM(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regexp_substr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(" , ":space:", "[", "]", "$", 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instr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 "-", "&gt;","then ","else","=" 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for","when","default","MISSING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“</a:t>
            </a:r>
          </a:p>
          <a:p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"where", "Note that", "Derived from", "Numeric value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only","use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99","01-Jan-1999","Use 500001, cannot be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collapsed","NULL","Map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from","Unpivot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function to include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all","'","Only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NON NULL value“</a:t>
            </a:r>
          </a:p>
          <a:p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global","measurement","field","based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on value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in","'","Use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function","Source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Table","if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available in table“</a:t>
            </a:r>
          </a:p>
          <a:p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Min?date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 , 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Max?date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 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UPPER","Custom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function to lookup BSP Label in XXFORMAT reference table based 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on","For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qualitative results ","missing","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nvL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“</a:t>
            </a:r>
          </a:p>
          <a:p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"NVL","</a:t>
            </a:r>
            <a:r>
              <a:rPr lang="en-US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nvl</a:t>
            </a:r>
            <a:r>
              <a:rPr lang="en-US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", "#",":" , "3.", "4.", "5.", "6.","7.", "8.", "9.", ":","|",")","(" ,"&lt;","&gt;","'","*",",","`","?","!","?","%","^","&amp;","+","-","@","~","~",". .",".." ,"&lt;." , "&gt;.","?“</a:t>
            </a:r>
          </a:p>
          <a:p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49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241C-09F8-D842-8185-B9BD74A04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08E7DA-D078-3C02-1E41-75D69F86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It work ?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C6F88-741A-1B77-C481-499CA19559E7}"/>
              </a:ext>
            </a:extLst>
          </p:cNvPr>
          <p:cNvSpPr txBox="1"/>
          <p:nvPr/>
        </p:nvSpPr>
        <p:spPr>
          <a:xfrm>
            <a:off x="267572" y="1045938"/>
            <a:ext cx="11781815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US" sz="1800" u="sng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Follow steps in same sequence order :</a:t>
            </a:r>
          </a:p>
          <a:p>
            <a:endParaRPr lang="en-GB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6. Keep one space between word by remove all extra spaces </a:t>
            </a: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7. Split each word into separate row from  </a:t>
            </a:r>
            <a:r>
              <a:rPr lang="en-GB" sz="18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Mapped from Tables, </a:t>
            </a:r>
            <a:r>
              <a:rPr lang="en-US" sz="18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Transformation Rules, </a:t>
            </a:r>
            <a:r>
              <a:rPr lang="en-US" sz="1800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Columnmapinfo</a:t>
            </a:r>
            <a:r>
              <a:rPr lang="en-US" sz="18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en-GB" sz="16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ConversionExpression</a:t>
            </a:r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columns </a:t>
            </a:r>
          </a:p>
          <a:p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8. 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Calculate number of ‘.’ in  each word.</a:t>
            </a: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GB" sz="12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If it return as 3, then write first word as Data Model, second Word as Table and Third word as Column </a:t>
            </a:r>
          </a:p>
          <a:p>
            <a:r>
              <a:rPr lang="en-GB" sz="12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If it return as 2, then write first word as Data Model, second Word as Table  when source is Table workbook </a:t>
            </a:r>
          </a:p>
          <a:p>
            <a:r>
              <a:rPr lang="en-GB" sz="12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If it return as 2, then write first word as Table, second Word as Column when source is Columns workbook</a:t>
            </a:r>
          </a:p>
          <a:p>
            <a:r>
              <a:rPr lang="en-GB" sz="12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If it return as 1, then write first word as Table  when source is Table  workbook</a:t>
            </a:r>
          </a:p>
          <a:p>
            <a:r>
              <a:rPr lang="en-GB" sz="12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If it return as 1, then write first word as Column  when source </a:t>
            </a:r>
            <a:r>
              <a:rPr lang="en-GB" sz="1200" i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is Column  </a:t>
            </a:r>
            <a:r>
              <a:rPr lang="en-GB" sz="12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workbook</a:t>
            </a:r>
          </a:p>
          <a:p>
            <a:endParaRPr lang="en-GB" sz="12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9. Consider below keywords are Valid source table to track back from results </a:t>
            </a:r>
          </a:p>
          <a:p>
            <a:r>
              <a:rPr lang="en-GB" sz="9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(_H_|_HL|_H.|_LOG_|W_|DM_H|IE_|DS_V_|SUBID|COMMENTS|EXCLUDEDDATA|LAB_ANALYTE|LAB_RANGES|MEASUREMENTUNIT|PROT_DEV|QUERY|RAVE_DISC_STAGE|SITE_LIST|PROT_DEV|DAVE.|KRP.|KARAPIT|TDD|03_LABS|SAS|10RAW)|_EDATA_|CDE_SAS|C_CD_|C_CQ_|C_GC_|EGHR1MIN_ED|RAND_REF|REF_EPOCH|RELREC_DEF|RPL_|STUDY_REF|STUDY_SPECIFIC_IME|CONV_VS|EQUIV_UNIT|SLAT|SYN_UNIT|VALIDITY_FINDINGS|TRUNIT|ZZ_EPOCH_|BLANK_REC|C_CV_|FAAE_H|GF_H|HO_HL|LB_H_|LB_HL_|OE_HL|PC_HL|QS_H|RS_H|SS_HL|TR_HL|TU_H“</a:t>
            </a:r>
          </a:p>
          <a:p>
            <a:endParaRPr lang="en-GB" sz="16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34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9B680-6841-C88B-D97B-ACFF460F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7F779C-1FD4-DBC2-7BFB-4A866E37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It work ?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F7A52-EE3E-7F84-FDF2-E008BA0FDAD0}"/>
              </a:ext>
            </a:extLst>
          </p:cNvPr>
          <p:cNvSpPr txBox="1"/>
          <p:nvPr/>
        </p:nvSpPr>
        <p:spPr>
          <a:xfrm>
            <a:off x="267572" y="1045938"/>
            <a:ext cx="11781815" cy="867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US" sz="1800" u="sng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Follow steps in same sequence order :</a:t>
            </a:r>
          </a:p>
          <a:p>
            <a:endParaRPr lang="en-GB" sz="16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GB" sz="16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10. Consider below keywords belongs to specific Source Data Model in same sequence order 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900" b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03_EDC INPUT MODEL:</a:t>
            </a:r>
          </a:p>
          <a:p>
            <a:r>
              <a:rPr lang="en-GB" sz="9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"(_H_|CV_H.|CE_H.|_HL|_HL.|_LOG_|IE_|DM_H|SV_H|VS_H|ML_H|DS_V_IC|EC_HL_IDOSE|SUBID|SUBID.|COMMENTS|EXCLUDEDDATA|LAB_ANALYTE|LAB_RANGES|MEASUREMENTUNIT|PROT_DEV|QUERY|RAVE_DISC_STAGE|SITE_LIST|FAAE_H|GF_H|HO_HL|LB_H_|LB_HL_|OE_HL|PC_HL|QS_H|RS_H|SS_HL|TR_HL|TU_H)“</a:t>
            </a: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10_RAWP TARGET DATA MODEL:</a:t>
            </a:r>
          </a:p>
          <a:p>
            <a:r>
              <a:rPr lang="en-GB" sz="9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W_|10RAW|DS_V_|RAWP|ZZ_CQ_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ZZ_SS TARGET DATA MODEL:</a:t>
            </a:r>
          </a:p>
          <a:p>
            <a:r>
              <a:rPr lang="en-GB" sz="9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BLANK_REC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ZZ_SSREF TARGET DATA MODEL:</a:t>
            </a:r>
          </a:p>
          <a:p>
            <a:r>
              <a:rPr lang="en-GB" sz="9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</a:t>
            </a:r>
            <a:r>
              <a:rPr lang="en-GB" sz="900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fn_Lookup_Decode</a:t>
            </a:r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REFDATA INPUT  DATA MODEL: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</a:t>
            </a:r>
            <a:r>
              <a:rPr lang="en-GB" sz="9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fn_GetStudyDecod</a:t>
            </a:r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DAVE INPUT MODEL:</a:t>
            </a:r>
          </a:p>
          <a:p>
            <a:r>
              <a:rPr lang="en-GB" sz="9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DAVE.|LT_EXPORT_DATA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KARAPIT INPUT MODEL:</a:t>
            </a:r>
          </a:p>
          <a:p>
            <a:r>
              <a:rPr lang="en-GB" sz="9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KRP.|KARAPIT|_KARAPIT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CDE_SAS INPUT MODEL:</a:t>
            </a:r>
          </a:p>
          <a:p>
            <a:r>
              <a:rPr lang="en-GB" sz="9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CDE_SAS|C_CD_|C_CQ_|C_GC_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03_LABS  INPUT MODEL: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</a:t>
            </a:r>
            <a:r>
              <a:rPr lang="en-GB" sz="9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03_LABS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RAND_SAS INPUT MODEL:</a:t>
            </a:r>
          </a:p>
          <a:p>
            <a:r>
              <a:rPr lang="en-GB" sz="9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RAND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REFDATA INPUT MODEL:</a:t>
            </a:r>
          </a:p>
          <a:p>
            <a:r>
              <a:rPr lang="en-GB" sz="9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RAND_REF|REF_EPOCH|RELREC_DEF|RPL_|STUDY_REF|STUDY_SPECIFIC_IME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REF_CVTB INPUT MODEL:</a:t>
            </a:r>
          </a:p>
          <a:p>
            <a:r>
              <a:rPr lang="en-GB" sz="9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CONV_VS|EQUIV_UNIT|SLAT|SYN_UNIT</a:t>
            </a: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XX_EDATA:</a:t>
            </a:r>
          </a:p>
          <a:p>
            <a:r>
              <a:rPr lang="en-GB" sz="9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XX_EDATA_</a:t>
            </a:r>
          </a:p>
          <a:p>
            <a:r>
              <a:rPr lang="en-GB" sz="900" b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TRUNIT:</a:t>
            </a:r>
          </a:p>
          <a:p>
            <a:r>
              <a:rPr lang="en-GB" sz="900" b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</a:t>
            </a:r>
            <a:r>
              <a:rPr lang="en-GB" sz="900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TRUNIT</a:t>
            </a: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GB" sz="9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11. </a:t>
            </a:r>
            <a:r>
              <a:rPr lang="en-GB" sz="1200" b="1" i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Assigned  above Data Model when key word matched .when key word matched once, it will not execute in another step again. </a:t>
            </a:r>
          </a:p>
          <a:p>
            <a:r>
              <a:rPr lang="en-GB" sz="12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Table and Column already assigned as part of  Calculate number of ‘.’ in  each word in previous step .</a:t>
            </a:r>
            <a:endParaRPr lang="en-GB" sz="1200" b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u="sng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16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66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F29C6-3F2D-46D4-FD94-2422B39C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828223-9967-D76A-6182-B48386C4C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It work ?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D617E0-29BF-BE79-D994-D79CC3A9B65B}"/>
              </a:ext>
            </a:extLst>
          </p:cNvPr>
          <p:cNvSpPr txBox="1"/>
          <p:nvPr/>
        </p:nvSpPr>
        <p:spPr>
          <a:xfrm>
            <a:off x="267572" y="1045938"/>
            <a:ext cx="11781815" cy="657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u="sng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Follow steps in same sequence order :</a:t>
            </a:r>
            <a:endParaRPr lang="en-GB" sz="16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GB" sz="16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12. Download  Target Study metadata by execute SQL script . </a:t>
            </a:r>
          </a:p>
          <a:p>
            <a:r>
              <a:rPr lang="en-GB" sz="16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It have Study name , Data Model, </a:t>
            </a:r>
            <a:r>
              <a:rPr lang="en-GB" sz="1600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Table,Column</a:t>
            </a:r>
            <a:r>
              <a:rPr lang="en-GB" sz="16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as metadata in Target Table </a:t>
            </a:r>
          </a:p>
          <a:p>
            <a:r>
              <a:rPr lang="en-GB" sz="1600" b="1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13. </a:t>
            </a:r>
            <a:r>
              <a:rPr lang="en-GB" sz="16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Compare </a:t>
            </a:r>
            <a:r>
              <a:rPr lang="en-GB" sz="12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Difference between Target table and </a:t>
            </a:r>
            <a:r>
              <a:rPr lang="en-GB" sz="120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Source_Dataset</a:t>
            </a:r>
            <a:r>
              <a:rPr lang="en-GB" sz="12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Table on Data Model, Table and Column level .</a:t>
            </a:r>
          </a:p>
          <a:p>
            <a:r>
              <a:rPr lang="en-GB" sz="12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Results are below category :</a:t>
            </a:r>
          </a:p>
          <a:p>
            <a:r>
              <a:rPr lang="en-GB" sz="12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	Data Model, Table and Column from spec matched with DB </a:t>
            </a:r>
          </a:p>
          <a:p>
            <a:r>
              <a:rPr lang="en-GB" sz="12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	Data Model, Table matched but Column from spec  not find in  DB .Please review .</a:t>
            </a:r>
          </a:p>
          <a:p>
            <a:r>
              <a:rPr lang="en-GB" sz="12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	Data Model Matched but  Table from Spec not find in DB  . Please review .</a:t>
            </a:r>
          </a:p>
          <a:p>
            <a:r>
              <a:rPr lang="en-GB" sz="12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Table in DB not used in </a:t>
            </a:r>
            <a:r>
              <a:rPr lang="en-GB" sz="1200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GB" sz="12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spec, Please review .</a:t>
            </a:r>
          </a:p>
          <a:p>
            <a:r>
              <a:rPr lang="en-GB" sz="12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Table in DB used but column from same table  not used in </a:t>
            </a:r>
            <a:r>
              <a:rPr lang="en-GB" sz="1200" dirty="0" err="1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RAWp</a:t>
            </a:r>
            <a:r>
              <a:rPr lang="en-GB" sz="12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spec, Please review .</a:t>
            </a:r>
          </a:p>
          <a:p>
            <a:r>
              <a:rPr lang="en-GB" sz="120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Is Valid table=‘N’ means Code can’t Auto detect ,  Please Review manually . </a:t>
            </a:r>
          </a:p>
          <a:p>
            <a:endParaRPr lang="en-GB" sz="12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12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12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12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12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12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1200" b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b="1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i="1" u="sng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16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GB" sz="900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4256A2-6D91-2731-9705-0512ACDA3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2882"/>
            <a:ext cx="12192000" cy="1069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57C242-4721-7EE9-2EA3-8D21435A9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90644"/>
            <a:ext cx="12192000" cy="1823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8A18E8-1EDC-A6AB-2DB0-A7AC9B0CD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531" y="181938"/>
            <a:ext cx="3746740" cy="348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40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0A82D-7BFB-41D6-BED3-D09877A4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7030A0"/>
                </a:solidFill>
              </a:rPr>
              <a:t>Data Mart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498C-D133-49D4-823A-74DCB7A4527E}"/>
              </a:ext>
            </a:extLst>
          </p:cNvPr>
          <p:cNvSpPr txBox="1"/>
          <p:nvPr/>
        </p:nvSpPr>
        <p:spPr>
          <a:xfrm>
            <a:off x="410185" y="1045938"/>
            <a:ext cx="1178181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Overview :</a:t>
            </a:r>
            <a:endParaRPr lang="en-GB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Calibri" panose="020F0502020204030204" pitchFamily="34" charset="0"/>
              </a:rPr>
              <a:t> Data dictionary on Data Mart . Report have summary statistics on Metadata(Data about Data )  level  </a:t>
            </a:r>
          </a:p>
          <a:p>
            <a:r>
              <a:rPr lang="en-US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Input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Data mart option checkbox should be enabled in DMW </a:t>
            </a:r>
            <a:endParaRPr lang="en-US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800" i="1" u="sng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Output</a:t>
            </a:r>
            <a:r>
              <a:rPr lang="en-US" i="1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Number of tables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Number of rows in each table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</a:rPr>
              <a:t>Number of variables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in each table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</a:rPr>
              <a:t>Number of missing and non missing values in each column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</a:rPr>
              <a:t>Summary of descriptive statistics </a:t>
            </a:r>
          </a:p>
          <a:p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  Frequency and percentages for Categorical variable </a:t>
            </a:r>
          </a:p>
          <a:p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  Mean, median, min, max, Std for Continuous variable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</a:rPr>
              <a:t>  Can filter system(RAVE) defined variables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</a:rPr>
              <a:t> Can track all NULL  variables in data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</a:rPr>
              <a:t>Can track unique values in each variable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7030A0"/>
                </a:solidFill>
                <a:latin typeface="Times New Roman" panose="02020603050405020304" pitchFamily="18" charset="0"/>
              </a:rPr>
              <a:t>Can track which values are more proportion in each variable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u="sng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u="sng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endParaRPr lang="en-US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</a:t>
            </a:r>
            <a:endParaRPr lang="en-GB" sz="14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42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0A82D-7BFB-41D6-BED3-D09877A4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7030A0"/>
                </a:solidFill>
              </a:rPr>
              <a:t>Data Mart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498C-D133-49D4-823A-74DCB7A4527E}"/>
              </a:ext>
            </a:extLst>
          </p:cNvPr>
          <p:cNvSpPr txBox="1"/>
          <p:nvPr/>
        </p:nvSpPr>
        <p:spPr>
          <a:xfrm>
            <a:off x="410185" y="1045938"/>
            <a:ext cx="117818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endParaRPr lang="en-US" i="1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u="sng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u="sng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endParaRPr lang="en-US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</a:t>
            </a:r>
            <a:endParaRPr lang="en-GB" sz="14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633900-A4C2-47FE-A9D6-2D6D84248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187202"/>
              </p:ext>
            </p:extLst>
          </p:nvPr>
        </p:nvGraphicFramePr>
        <p:xfrm>
          <a:off x="838200" y="1259633"/>
          <a:ext cx="10515600" cy="24315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3158">
                  <a:extLst>
                    <a:ext uri="{9D8B030D-6E8A-4147-A177-3AD203B41FA5}">
                      <a16:colId xmlns:a16="http://schemas.microsoft.com/office/drawing/2014/main" val="1113362150"/>
                    </a:ext>
                  </a:extLst>
                </a:gridCol>
                <a:gridCol w="3044498">
                  <a:extLst>
                    <a:ext uri="{9D8B030D-6E8A-4147-A177-3AD203B41FA5}">
                      <a16:colId xmlns:a16="http://schemas.microsoft.com/office/drawing/2014/main" val="3319174141"/>
                    </a:ext>
                  </a:extLst>
                </a:gridCol>
                <a:gridCol w="6407944">
                  <a:extLst>
                    <a:ext uri="{9D8B030D-6E8A-4147-A177-3AD203B41FA5}">
                      <a16:colId xmlns:a16="http://schemas.microsoft.com/office/drawing/2014/main" val="3236343113"/>
                    </a:ext>
                  </a:extLst>
                </a:gridCol>
              </a:tblGrid>
              <a:tr h="121298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Field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Label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Use case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4152466236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table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Table name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3759504353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column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column name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695124854"/>
                  </a:ext>
                </a:extLst>
              </a:tr>
              <a:tr h="242596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nrow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number of rows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Make sure data loaded with at least one row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2317880054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nvar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Number of variables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It validate  total number of variables in spec Vs DMW(DB)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1929278653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varnum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column name sorting order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It validate to verify column sorting order as per spec specially for 20_SDTMp consumer model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1398147971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distinct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Count of unique values in variable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It help me to validate how data flow between source to target specially from RAWp to SDTMp . Also help me to validate code list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631137863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nmiss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number of NULL in variable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3554117735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nonmiss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number of NOT NULL in variable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 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2347384746"/>
                  </a:ext>
                </a:extLst>
              </a:tr>
              <a:tr h="121298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Is_Sys_column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Is Rave /DMW /system generated /common columns?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Rave common columns /DMW system generated columns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2252679189"/>
                  </a:ext>
                </a:extLst>
              </a:tr>
              <a:tr h="363894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Is_NULL_column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Is Column have only NULL  ?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Make sure to load source data to populate at least one non null unless spec specify load as NULL, Check transformation rules between source and target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1773644682"/>
                  </a:ext>
                </a:extLst>
              </a:tr>
              <a:tr h="363894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Category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Show data options 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Show data options for Descriptive/ summary Statistics . </a:t>
                      </a:r>
                      <a:br>
                        <a:rPr lang="en-GB" sz="800">
                          <a:effectLst/>
                        </a:rPr>
                      </a:br>
                      <a:r>
                        <a:rPr lang="en-GB" sz="800">
                          <a:effectLst/>
                        </a:rPr>
                        <a:t>It return top n  values for each variable  based on parameter  for categorical variables and summary statistics for continuous variables 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2684013210"/>
                  </a:ext>
                </a:extLst>
              </a:tr>
              <a:tr h="363894"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Statistics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>
                          <a:effectLst/>
                        </a:rPr>
                        <a:t>Calculate Descriptive/ summary Statistics based on data type</a:t>
                      </a:r>
                      <a:endParaRPr lang="en-GB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effectLst/>
                        </a:rPr>
                        <a:t>Calculate  Statistics . </a:t>
                      </a:r>
                      <a:br>
                        <a:rPr lang="en-GB" sz="800" dirty="0">
                          <a:effectLst/>
                        </a:rPr>
                      </a:br>
                      <a:r>
                        <a:rPr lang="en-GB" sz="800" dirty="0">
                          <a:effectLst/>
                        </a:rPr>
                        <a:t> It return top n  values for each variable  based on parameter  for categorical variables and summary statistics for continuous variables  </a:t>
                      </a:r>
                      <a:endParaRPr lang="en-GB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2191" marR="52191" marT="0" marB="0" anchor="b"/>
                </a:tc>
                <a:extLst>
                  <a:ext uri="{0D108BD9-81ED-4DB2-BD59-A6C34878D82A}">
                    <a16:rowId xmlns:a16="http://schemas.microsoft.com/office/drawing/2014/main" val="1278713234"/>
                  </a:ext>
                </a:extLst>
              </a:tr>
            </a:tbl>
          </a:graphicData>
        </a:graphic>
      </p:graphicFrame>
      <p:pic>
        <p:nvPicPr>
          <p:cNvPr id="1025" name="Picture 1">
            <a:extLst>
              <a:ext uri="{FF2B5EF4-FFF2-40B4-BE49-F238E27FC236}">
                <a16:creationId xmlns:a16="http://schemas.microsoft.com/office/drawing/2014/main" id="{BCA6CE74-2541-428C-9B95-3BF9CFBE2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32" y="3904886"/>
            <a:ext cx="11416684" cy="3209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927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0A82D-7BFB-41D6-BED3-D09877A4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7030A0"/>
                </a:solidFill>
              </a:rPr>
              <a:t>Data Mart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498C-D133-49D4-823A-74DCB7A4527E}"/>
              </a:ext>
            </a:extLst>
          </p:cNvPr>
          <p:cNvSpPr txBox="1"/>
          <p:nvPr/>
        </p:nvSpPr>
        <p:spPr>
          <a:xfrm>
            <a:off x="410185" y="1045938"/>
            <a:ext cx="117818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u="sng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endParaRPr lang="en-US" i="1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u="sng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u="sng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endParaRPr lang="en-US" sz="1800" dirty="0">
              <a:solidFill>
                <a:srgbClr val="7030A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</a:t>
            </a:r>
            <a:endParaRPr lang="en-GB" sz="14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4CD1F-8AE8-326F-F17D-DD773796D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952500"/>
            <a:ext cx="12020550" cy="574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1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t>23</a:t>
            </a:fld>
            <a:endParaRPr lang="en-US"/>
          </a:p>
        </p:txBody>
      </p:sp>
      <p:pic>
        <p:nvPicPr>
          <p:cNvPr id="8" name="Picture 7" descr="301 Moved Permanentl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00" y="889000"/>
            <a:ext cx="6350000" cy="50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0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1433</TotalTime>
  <Words>4231</Words>
  <Application>Microsoft Office PowerPoint</Application>
  <PresentationFormat>Widescreen</PresentationFormat>
  <Paragraphs>393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Times New Roman</vt:lpstr>
      <vt:lpstr>Office Theme</vt:lpstr>
      <vt:lpstr> Compare Transformation rules Identify template Study  Identify template Table  Identify RAWp Spec issues    Data Dictionary on Data Mart        </vt:lpstr>
      <vt:lpstr>Compare Transformation rules between spec </vt:lpstr>
      <vt:lpstr>Table level transformations ?</vt:lpstr>
      <vt:lpstr>Visualizations </vt:lpstr>
      <vt:lpstr>Column level transformations?</vt:lpstr>
      <vt:lpstr>FAQ: </vt:lpstr>
      <vt:lpstr>How to find Template study </vt:lpstr>
      <vt:lpstr>How It work ?  </vt:lpstr>
      <vt:lpstr> Before start Study build activity </vt:lpstr>
      <vt:lpstr>How to find Template Table </vt:lpstr>
      <vt:lpstr>Find Template Table &amp; Study </vt:lpstr>
      <vt:lpstr>Template Table Analysis by Study level</vt:lpstr>
      <vt:lpstr>Review changes and decide</vt:lpstr>
      <vt:lpstr>How to find Spec issues in RAWp</vt:lpstr>
      <vt:lpstr>How It work ?  </vt:lpstr>
      <vt:lpstr>How It work ?  </vt:lpstr>
      <vt:lpstr>How It work ?  </vt:lpstr>
      <vt:lpstr>How It work ?  </vt:lpstr>
      <vt:lpstr>How It work ?  </vt:lpstr>
      <vt:lpstr>Data Mart</vt:lpstr>
      <vt:lpstr>Data Mart</vt:lpstr>
      <vt:lpstr>Data Mart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Madhu Allu</dc:creator>
  <cp:lastModifiedBy>Madhu Allu</cp:lastModifiedBy>
  <cp:revision>38</cp:revision>
  <dcterms:created xsi:type="dcterms:W3CDTF">2022-08-05T11:09:59Z</dcterms:created>
  <dcterms:modified xsi:type="dcterms:W3CDTF">2025-10-17T10:35:08Z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2022-08-05T11:55:09Z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5a2da565-b212-4a38-8ae6-51d075122657</vt:lpwstr>
  </property>
  <property fmtid="{D5CDD505-2E9C-101B-9397-08002B2CF9AE}" pid="8" name="MSIP_Label_2c76c141-ac86-40e5-abf2-c6f60e474cee_ContentBits">
    <vt:lpwstr>2</vt:lpwstr>
  </property>
</Properties>
</file>